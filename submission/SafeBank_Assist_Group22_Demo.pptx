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8-10 minutes. Four speakers, roughly two minutes each. Keep the live run for slide 5 - if the GPU session has expired, play the stored notebook output instead.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A retail bank's support desk gets thousands of short, messy messages a day. For every one an agent works out what the customer wants out of 77 request types, decides whether to look something up, and replies without inventing account facts. Done by hand it is slow and inconsistent. The hardest cases are the near-twins.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0:45-1:30. SafeBank Assist reads one message and returns one structured decision. A plain classifier would only give the label. A pretrained LM gives label, reply and routing in one pass, and a new request type is a prompt edit instead of a retrain. The catch is that the output is just text, so most of what we built checks that text before anyone acts on it. Hand over: 'starting with the data we used.'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1:30-2:15. Vishruth. Point at the frozen evaluation set and the train/eval separation - that is what makes the numbers later believable. Mention that the label file moved on the Hub mid-project and we pinned a revision to keep the label order stable.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2:15-3:00. Vishruth. Show the stored tokenizer cell, then the E1 comparison - do not run anything, the outputs are committed. The point to land: the instruction-tuned model understands the request, and understanding alone is not a system. That gap is what the rest of the demo fills. Hand over: 'Kishore will show what we built around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3:00-3:45. Kishore. Walk the arrows once, slowly. The point to land: the model is one component, wrapped in deterministic checks. Name the four validation failure kinds - no_json_found, malformed_json, schema_violation, unknown_intent - and say that build_prompt(strategy, query, allowed_intents, **kwargs) is the one reusable template, so E2 is this same pipeline with one argument 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3:45-5:00. Kishore. This is the heart of the demo. Run it live from the notebook if a GPU session is up; otherwise show the stored outputs - they are committed, so nothing has to be re-run, and say so once rather than debugging on stage. Say plainly that case two is a 1.5B model asking a customer for their PIN, and that no accuracy or validity metric would have caught it. Hand over: 'Satya ran the experiments that tell us which prompt and which decoding to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5:00-6:00. Satya. Lead with the honest finding: only few-shot moved the needle, and two of the four design hypotheses failed. The comparison is paired on the same 385 messages, which is why the significance test is meaningful: few-shot right on 55 where zero-shot was wrong, wrong on 26 where it was right.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6:00-6:50. Satya. The neutralisation point is worth 20 seconds: top_k had to be set to 0, because None is refilled from the model's own config and would have put top-k=20 back into every sampled run. Without that fix the whole E3 table would have been wrong. Close on 'stable is not correct' - the daughter's-account query is confidently and consistently wrong.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6:50-7:35. Satya. The repair asymmetry is the most interesting engineering finding - it points straight at the fix, which is putting the label catalogue into the repair prompt. We did not change it because it would invalidate the measured numbers. Hand over: 'Kishore will close on the safety result and why we chose prompting.'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7:35-8:15. Kishore. Land the lesson: a reply can pass every structural check and still be unsafe. That is why the screen exists and why it is rule-based rather than inferred from the metrics. Then the adaptation decision: 47.8% on a 77-way task is not production-ready and 10,003 labelled training rows are sitting unused, so a LoRA adapter is the next step - section 9 says so rather than defending prompting.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8:15-8:50. One bullet each, in this order: Vishruth takes the hardware split, Satya the 47.8% and the five-per-intent noise, Kishore the uncalibrated confidence and validate-after-generation, Bhavani the rule-based screen, simulated tools and synthetic identifiers. Say these out loud rather than waiting to be asked - naming them is what makes the rest of the numbers credible.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8:50-9:30. Bhavani. Close on the engineering posture: the model is one replaceable component behind a tested, deterministic shell, and every number in the report is traceable to a stored run. Then: 'Thank you - we're happy to take questions.' Leave this slide up for the Q&amp;A.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presented slide - delete it before the demo or leave it hidden. This matches demo_script.html exactly. The brief expects all four members to speak and every member to be able to explain the complete workflow, so rehearse one pass with the segments swapped.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920240"/>
            <a:ext cx="10698480" cy="2377440"/>
          </a:xfrm>
          <a:prstGeom prst="rect">
            <a:avLst/>
          </a:prstGeom>
          <a:noFill/>
        </p:spPr>
        <p:txBody>
          <a:bodyPr wrap="square">
            <a:spAutoFit/>
          </a:bodyPr>
          <a:lstStyle/>
          <a:p>
            <a:pPr>
              <a:defRPr sz="5400" b="1">
                <a:solidFill>
                  <a:srgbClr val="142A4F"/>
                </a:solidFill>
              </a:defRPr>
            </a:pPr>
            <a:r>
              <a:t>SafeBank Assist</a:t>
            </a:r>
          </a:p>
          <a:p>
            <a:pPr>
              <a:defRPr sz="2000">
                <a:solidFill>
                  <a:srgbClr val="142A4F"/>
                </a:solidFill>
              </a:defRPr>
            </a:pPr>
            <a:r>
              <a:t>A first-line banking-support triage assistant on a pretrained causal LLM</a:t>
            </a:r>
          </a:p>
          <a:p>
            <a:pPr>
              <a:defRPr sz="1600">
                <a:solidFill>
                  <a:srgbClr val="444A52"/>
                </a:solidFill>
              </a:defRPr>
            </a:pPr>
            <a:r>
              <a:t>BANKING77 · 77 intents · Qwen/Qwen2.5-1.5B-Instruct · baseline gpt2</a:t>
            </a:r>
          </a:p>
          <a:p>
            <a:pPr>
              <a:defRPr sz="1400">
                <a:solidFill>
                  <a:srgbClr val="444A52"/>
                </a:solidFill>
              </a:defRPr>
            </a:pPr>
            <a:r>
              <a:t>PCAM* ZG516 Applied Generative AI · Group Major Project / Assignment-1 · Group 22</a:t>
            </a:r>
          </a:p>
          <a:p>
            <a:pPr>
              <a:defRPr sz="1400">
                <a:solidFill>
                  <a:srgbClr val="444A52"/>
                </a:solidFill>
              </a:defRPr>
            </a:pPr>
            <a:r>
              <a:t>Nandhaluru Kishore · Vishruth M · Satya Prakash · Takkars Bhavani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The problem</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Bhavani   ·   0:00 - 0:45</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"My new card still hasn't arrived and it's been two weeks"</a:t>
            </a:r>
          </a:p>
          <a:p>
            <a:pPr>
              <a:spcAft>
                <a:spcPts val="900"/>
              </a:spcAft>
              <a:defRPr sz="1900">
                <a:solidFill>
                  <a:srgbClr val="142A4F"/>
                </a:solidFill>
              </a:defRPr>
            </a:pPr>
            <a:r>
              <a:t>• Every message must be mapped to one of 77 BANKING77 request types</a:t>
            </a:r>
          </a:p>
          <a:p>
            <a:pPr>
              <a:spcAft>
                <a:spcPts val="900"/>
              </a:spcAft>
              <a:defRPr sz="1900">
                <a:solidFill>
                  <a:srgbClr val="142A4F"/>
                </a:solidFill>
              </a:defRPr>
            </a:pPr>
            <a:r>
              <a:t>• Then: does it need a system lookup, and what is a safe reply?</a:t>
            </a:r>
          </a:p>
          <a:p>
            <a:pPr lvl="1">
              <a:spcAft>
                <a:spcPts val="900"/>
              </a:spcAft>
              <a:defRPr sz="1600">
                <a:solidFill>
                  <a:srgbClr val="444A52"/>
                </a:solidFill>
              </a:defRPr>
            </a:pPr>
            <a:r>
              <a:t>– The hard cases are near-twins: "my card hasn't arrived" against "when will my card arrive" are different intents</a:t>
            </a:r>
          </a:p>
          <a:p>
            <a:pPr>
              <a:spcAft>
                <a:spcPts val="900"/>
              </a:spcAft>
              <a:defRPr sz="1900">
                <a:solidFill>
                  <a:srgbClr val="142A4F"/>
                </a:solidFill>
              </a:defRPr>
            </a:pPr>
            <a:r>
              <a:t>• By hand this is slow, and two agents answer the same message differently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What we built, and why a generative model</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Bhavani   ·   0:45 - 1:30</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One message in; one validated JSON decision out</a:t>
            </a:r>
          </a:p>
          <a:p>
            <a:pPr lvl="1">
              <a:spcAft>
                <a:spcPts val="900"/>
              </a:spcAft>
              <a:defRPr sz="1600">
                <a:solidFill>
                  <a:srgbClr val="444A52"/>
                </a:solidFill>
              </a:defRPr>
            </a:pPr>
            <a:r>
              <a:t>– intent · confidence · customer-safe reply · optional tool call · escalation flag</a:t>
            </a:r>
          </a:p>
          <a:p>
            <a:pPr>
              <a:spcAft>
                <a:spcPts val="900"/>
              </a:spcAft>
              <a:defRPr sz="1900">
                <a:solidFill>
                  <a:srgbClr val="142A4F"/>
                </a:solidFill>
              </a:defRPr>
            </a:pPr>
            <a:r>
              <a:t>• A classifier gives only the label - no reply, no routing decision</a:t>
            </a:r>
          </a:p>
          <a:p>
            <a:pPr>
              <a:spcAft>
                <a:spcPts val="900"/>
              </a:spcAft>
              <a:defRPr sz="1900">
                <a:solidFill>
                  <a:srgbClr val="142A4F"/>
                </a:solidFill>
              </a:defRPr>
            </a:pPr>
            <a:r>
              <a:t>• One prompted pass gives all three, and a new intent is a prompt edit, not retraining</a:t>
            </a:r>
          </a:p>
          <a:p>
            <a:pPr>
              <a:spcAft>
                <a:spcPts val="900"/>
              </a:spcAft>
              <a:defRPr sz="1900">
                <a:solidFill>
                  <a:srgbClr val="142A4F"/>
                </a:solidFill>
              </a:defRPr>
            </a:pPr>
            <a:r>
              <a:t>• The catch: the output is just text. Most of the engineering is checking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The data</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Vishruth   ·   1:30 - 2:15</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BANKING77: 10,003 training and 3,080 test messages, 77 intents</a:t>
            </a:r>
          </a:p>
          <a:p>
            <a:pPr>
              <a:spcAft>
                <a:spcPts val="900"/>
              </a:spcAft>
              <a:defRPr sz="1900">
                <a:solidFill>
                  <a:srgbClr val="142A4F"/>
                </a:solidFill>
              </a:defRPr>
            </a:pPr>
            <a:r>
              <a:t>• Evaluation sample: 385 messages, 5 per intent, stratified, seed 42, test split only</a:t>
            </a:r>
          </a:p>
          <a:p>
            <a:pPr>
              <a:spcAft>
                <a:spcPts val="900"/>
              </a:spcAft>
              <a:defRPr sz="1900">
                <a:solidFill>
                  <a:srgbClr val="142A4F"/>
                </a:solidFill>
              </a:defRPr>
            </a:pPr>
            <a:r>
              <a:t>• Few-shot examples come from the training split; the runner refuses to start if any example is also an evaluation query</a:t>
            </a:r>
          </a:p>
          <a:p>
            <a:pPr>
              <a:spcAft>
                <a:spcPts val="900"/>
              </a:spcAft>
              <a:defRPr sz="1900">
                <a:solidFill>
                  <a:srgbClr val="142A4F"/>
                </a:solidFill>
              </a:defRPr>
            </a:pPr>
            <a:r>
              <a:t>• Label order read from the dataset card and checked against the pinned revision - all 77 names, in order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Tokenizer, the model, and the GPT-2 baseline (E1)</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Vishruth   ·   2:15 - 3:00</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"I need to activate my card can you do that now?" → 12 tokens, about 4 characters each</a:t>
            </a:r>
          </a:p>
          <a:p>
            <a:pPr lvl="1">
              <a:spcAft>
                <a:spcPts val="900"/>
              </a:spcAft>
              <a:defRPr sz="1600">
                <a:solidFill>
                  <a:srgbClr val="444A52"/>
                </a:solidFill>
              </a:defRPr>
            </a:pPr>
            <a:r>
              <a:t>– byte-level BPE, so a misspelt word is never out-of-vocabulary - it just becomes more pieces</a:t>
            </a:r>
          </a:p>
          <a:p>
            <a:pPr>
              <a:spcAft>
                <a:spcPts val="900"/>
              </a:spcAft>
              <a:defRPr sz="1900">
                <a:solidFill>
                  <a:srgbClr val="142A4F"/>
                </a:solidFill>
              </a:defRPr>
            </a:pPr>
            <a:r>
              <a:t>• The checkpoint we actually loaded: vocabulary 151,643 · hidden 1,536 · 28 blocks · 12 heads · context 32,768</a:t>
            </a:r>
          </a:p>
          <a:p>
            <a:pPr>
              <a:spcAft>
                <a:spcPts val="900"/>
              </a:spcAft>
              <a:defRPr sz="1900">
                <a:solidFill>
                  <a:srgbClr val="142A4F"/>
                </a:solidFill>
              </a:defRPr>
            </a:pPr>
            <a:r>
              <a:t>• E1 baseline, one plain prompt, greedy: gpt2 never answers - it continues the text pattern</a:t>
            </a:r>
          </a:p>
          <a:p>
            <a:pPr>
              <a:spcAft>
                <a:spcPts val="900"/>
              </a:spcAft>
              <a:defRPr sz="1900">
                <a:solidFill>
                  <a:srgbClr val="142A4F"/>
                </a:solidFill>
              </a:defRPr>
            </a:pPr>
            <a:r>
              <a:t>• Qwen/Qwen2.5-1.5B-Instruct summarises all five correctly - but no reply is one of the 77 labels, and nothing can be validated or routed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The pipeline: the model proposes, code decides</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Kishore   ·   3:00 - 3:45</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message → prompt template → LLM → raw text</a:t>
            </a:r>
          </a:p>
          <a:p>
            <a:pPr>
              <a:spcAft>
                <a:spcPts val="900"/>
              </a:spcAft>
              <a:defRPr sz="1900">
                <a:solidFill>
                  <a:srgbClr val="142A4F"/>
                </a:solidFill>
              </a:defRPr>
            </a:pPr>
            <a:r>
              <a:t>• → JSON parse → schema validation → repair-retry, at most twice</a:t>
            </a:r>
          </a:p>
          <a:p>
            <a:pPr>
              <a:spcAft>
                <a:spcPts val="900"/>
              </a:spcAft>
              <a:defRPr sz="1900">
                <a:solidFill>
                  <a:srgbClr val="142A4F"/>
                </a:solidFill>
              </a:defRPr>
            </a:pPr>
            <a:r>
              <a:t>• → label must exist in BANKING77 → confidence gate → tool router → simulated tool</a:t>
            </a:r>
          </a:p>
          <a:p>
            <a:pPr>
              <a:spcAft>
                <a:spcPts val="900"/>
              </a:spcAft>
              <a:defRPr sz="1900">
                <a:solidFill>
                  <a:srgbClr val="142A4F"/>
                </a:solidFill>
              </a:defRPr>
            </a:pPr>
            <a:r>
              <a:t>• → reply-safety screen → final reply with disclaimer, or escalation</a:t>
            </a:r>
          </a:p>
          <a:p>
            <a:pPr>
              <a:spcAft>
                <a:spcPts val="900"/>
              </a:spcAft>
              <a:defRPr sz="1900" b="1">
                <a:solidFill>
                  <a:srgbClr val="B12A2A"/>
                </a:solidFill>
              </a:defRPr>
            </a:pPr>
            <a:r>
              <a:t>• Nothing unvalidated reaches the customer, and a card is never blocked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Live: three messages, three outcomes</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Kishore   ·   3:45 - 5:00</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"Which ATMs accept this card?" → atm_support → find_branch runs → reply with the lookup</a:t>
            </a:r>
          </a:p>
          <a:p>
            <a:pPr>
              <a:spcAft>
                <a:spcPts val="900"/>
              </a:spcAft>
              <a:defRPr sz="1900">
                <a:solidFill>
                  <a:srgbClr val="142A4F"/>
                </a:solidFill>
              </a:defRPr>
            </a:pPr>
            <a:r>
              <a:t>• "I lost my card on the train" → lost_or_stolen_card → card NOT blocked automatically</a:t>
            </a:r>
          </a:p>
          <a:p>
            <a:pPr lvl="1">
              <a:spcAft>
                <a:spcPts val="900"/>
              </a:spcAft>
              <a:defRPr sz="1600">
                <a:solidFill>
                  <a:srgbClr val="444A52"/>
                </a:solidFill>
              </a:defRPr>
            </a:pPr>
            <a:r>
              <a:t>– the model's own reply asked for the customer's PIN - the safety screen withheld it and escalated</a:t>
            </a:r>
          </a:p>
          <a:p>
            <a:pPr>
              <a:spcAft>
                <a:spcPts val="900"/>
              </a:spcAft>
              <a:defRPr sz="1900">
                <a:solidFill>
                  <a:srgbClr val="142A4F"/>
                </a:solidFill>
              </a:defRPr>
            </a:pPr>
            <a:r>
              <a:t>• "Is there an ATM near 560001?" → no valid label after 3 attempts → escalated, nothing shown</a:t>
            </a:r>
          </a:p>
          <a:p>
            <a:pPr>
              <a:spcAft>
                <a:spcPts val="900"/>
              </a:spcAft>
              <a:defRPr sz="1900" b="1">
                <a:solidFill>
                  <a:srgbClr val="B12A2A"/>
                </a:solidFill>
              </a:defRPr>
            </a:pPr>
            <a:r>
              <a:t>• Same pipeline, three different terminal paths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E2 - four prompt strategies, 385 messages each</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Satya   ·   5:00 - 6:00</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few-shot 47.8% accuracy, macro-F1 0.450 - the only strategy that separates</a:t>
            </a:r>
          </a:p>
          <a:p>
            <a:pPr>
              <a:spcAft>
                <a:spcPts val="900"/>
              </a:spcAft>
              <a:defRPr sz="1900">
                <a:solidFill>
                  <a:srgbClr val="142A4F"/>
                </a:solidFill>
              </a:defRPr>
            </a:pPr>
            <a:r>
              <a:t>• zero-shot 40.3% · role/context 39.0% · constraint-based 40.0%</a:t>
            </a:r>
          </a:p>
          <a:p>
            <a:pPr lvl="1">
              <a:spcAft>
                <a:spcPts val="900"/>
              </a:spcAft>
              <a:defRPr sz="1600">
                <a:solidFill>
                  <a:srgbClr val="444A52"/>
                </a:solidFill>
              </a:defRPr>
            </a:pPr>
            <a:r>
              <a:t>– the other three cannot be told apart - paired exact McNemar, p from 0.47 to 1.0</a:t>
            </a:r>
          </a:p>
          <a:p>
            <a:pPr>
              <a:spcAft>
                <a:spcPts val="900"/>
              </a:spcAft>
              <a:defRPr sz="1900">
                <a:solidFill>
                  <a:srgbClr val="142A4F"/>
                </a:solidFill>
              </a:defRPr>
            </a:pPr>
            <a:r>
              <a:t>• Two of our four hypotheses were wrong:</a:t>
            </a:r>
          </a:p>
          <a:p>
            <a:pPr lvl="1">
              <a:spcAft>
                <a:spcPts val="900"/>
              </a:spcAft>
              <a:defRPr sz="1600">
                <a:solidFill>
                  <a:srgbClr val="444A52"/>
                </a:solidFill>
              </a:defRPr>
            </a:pPr>
            <a:r>
              <a:t>– few-shot LOWERED first-attempt validity - every violation was an invented tool name</a:t>
            </a:r>
          </a:p>
          <a:p>
            <a:pPr lvl="1">
              <a:spcAft>
                <a:spcPts val="900"/>
              </a:spcAft>
              <a:defRPr sz="1600">
                <a:solidFill>
                  <a:srgbClr val="444A52"/>
                </a:solidFill>
              </a:defRPr>
            </a:pPr>
            <a:r>
              <a:t>– the role persona did not make replies safer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E3 - decoding: sampling cost us accuracy and gained nothing</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Satya   ·   6:00 - 6:50</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greedy 48.1% · temperature 0.7 44.7% · temperature 1.2 39.5%</a:t>
            </a:r>
          </a:p>
          <a:p>
            <a:pPr>
              <a:spcAft>
                <a:spcPts val="900"/>
              </a:spcAft>
              <a:defRPr sz="1900">
                <a:solidFill>
                  <a:srgbClr val="142A4F"/>
                </a:solidFill>
              </a:defRPr>
            </a:pPr>
            <a:r>
              <a:t>• top-k 50 at temp 0.7 was 44.7% - identical to plain temperature 0.7, every seed</a:t>
            </a:r>
          </a:p>
          <a:p>
            <a:pPr lvl="1">
              <a:spcAft>
                <a:spcPts val="900"/>
              </a:spcAft>
              <a:defRPr sz="1600">
                <a:solidFill>
                  <a:srgbClr val="444A52"/>
                </a:solidFill>
              </a:defRPr>
            </a:pPr>
            <a:r>
              <a:t>– at temperature 0.7 almost no probability sits beyond the 50 most likely tokens</a:t>
            </a:r>
          </a:p>
          <a:p>
            <a:pPr>
              <a:spcAft>
                <a:spcPts val="900"/>
              </a:spcAft>
              <a:defRPr sz="1900">
                <a:solidFill>
                  <a:srgbClr val="142A4F"/>
                </a:solidFill>
              </a:defRPr>
            </a:pPr>
            <a:r>
              <a:t>• Stability is not correctness: 58% of queries agree across all five seeds at 0.7, only 26% at 1.2</a:t>
            </a:r>
          </a:p>
          <a:p>
            <a:pPr>
              <a:spcAft>
                <a:spcPts val="900"/>
              </a:spcAft>
              <a:defRPr sz="1900">
                <a:solidFill>
                  <a:srgbClr val="142A4F"/>
                </a:solidFill>
              </a:defRPr>
            </a:pPr>
            <a:r>
              <a:t>• Qwen ships sampling defaults on - they had to be neutralised or every row would mean something else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E6 - how we evaluate, and where it fails</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Satya   ·   6:50 - 7:35</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Six criteria: accuracy and macro-F1, schema validity, tool routing, reply safety, latency and attempts, self-consistency</a:t>
            </a:r>
          </a:p>
          <a:p>
            <a:pPr>
              <a:spcAft>
                <a:spcPts val="900"/>
              </a:spcAft>
              <a:defRPr sz="1900">
                <a:solidFill>
                  <a:srgbClr val="142A4F"/>
                </a:solidFill>
              </a:defRPr>
            </a:pPr>
            <a:r>
              <a:t>• Baseline zero-shot → final few-shot: accuracy 40.3% → 47.8%, escalations 28.1% → 21.0%</a:t>
            </a:r>
          </a:p>
          <a:p>
            <a:pPr>
              <a:spcAft>
                <a:spcPts val="900"/>
              </a:spcAft>
              <a:defRPr sz="1900">
                <a:solidFill>
                  <a:srgbClr val="142A4F"/>
                </a:solidFill>
              </a:defRPr>
            </a:pPr>
            <a:r>
              <a:t>• Repair raises validity 83.4% → 94.8%</a:t>
            </a:r>
          </a:p>
          <a:p>
            <a:pPr lvl="1">
              <a:spcAft>
                <a:spcPts val="900"/>
              </a:spcAft>
              <a:defRPr sz="1600">
                <a:solidFill>
                  <a:srgbClr val="444A52"/>
                </a:solidFill>
              </a:defRPr>
            </a:pPr>
            <a:r>
              <a:t>– it rescues 47 of 60 formatting errors but only 1 of 62 invented labels - the retry never re-states the valid labels</a:t>
            </a:r>
          </a:p>
          <a:p>
            <a:pPr>
              <a:spcAft>
                <a:spcPts val="900"/>
              </a:spcAft>
              <a:defRPr sz="1900">
                <a:solidFill>
                  <a:srgbClr val="142A4F"/>
                </a:solidFill>
              </a:defRPr>
            </a:pPr>
            <a:r>
              <a:t>• Routing handled correctly for 68% of the tool-triggering messages; every miss followed a wrong intent</a:t>
            </a:r>
          </a:p>
          <a:p>
            <a:pPr>
              <a:spcAft>
                <a:spcPts val="900"/>
              </a:spcAft>
              <a:defRPr sz="1900">
                <a:solidFill>
                  <a:srgbClr val="142A4F"/>
                </a:solidFill>
              </a:defRPr>
            </a:pPr>
            <a:r>
              <a:t>• 6 failure cases analysed, 15 safety findings recorded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The result we care about most</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Kishore   ·   7:35 - 8:15</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Replies flagged unsafe: 17.4% zero-shot → 3.9% few-shot</a:t>
            </a:r>
          </a:p>
          <a:p>
            <a:pPr>
              <a:spcAft>
                <a:spcPts val="900"/>
              </a:spcAft>
              <a:defRPr sz="1900">
                <a:solidFill>
                  <a:srgbClr val="142A4F"/>
                </a:solidFill>
              </a:defRPr>
            </a:pPr>
            <a:r>
              <a:t>• Credential-asking replies: 65 of 385 → 15 of 385; 9 of the 15 withheld asked for a secret</a:t>
            </a:r>
          </a:p>
          <a:p>
            <a:pPr>
              <a:spcAft>
                <a:spcPts val="900"/>
              </a:spcAft>
              <a:defRPr sz="1900">
                <a:solidFill>
                  <a:srgbClr val="142A4F"/>
                </a:solidFill>
              </a:defRPr>
            </a:pPr>
            <a:r>
              <a:t>• Every one of those passed JSON validation and had the right intent</a:t>
            </a:r>
          </a:p>
          <a:p>
            <a:pPr>
              <a:spcAft>
                <a:spcPts val="900"/>
              </a:spcAft>
              <a:defRPr sz="1900">
                <a:solidFill>
                  <a:srgbClr val="142A4F"/>
                </a:solidFill>
              </a:defRPr>
            </a:pPr>
            <a:r>
              <a:t>• Accuracy, validity and routing all scored them as success</a:t>
            </a:r>
          </a:p>
          <a:p>
            <a:pPr>
              <a:spcAft>
                <a:spcPts val="900"/>
              </a:spcAft>
              <a:defRPr sz="1900" b="1">
                <a:solidFill>
                  <a:srgbClr val="B12A2A"/>
                </a:solidFill>
              </a:defRPr>
            </a:pPr>
            <a:r>
              <a:t>• Adaptation: prompting chosen, RAG rejected (no corpus to retrieve) - and our own numbers say PEFT is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What we would not claim</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all four - one bullet each   ·   8:15 - 8:50</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47.8% on a 77-way task is not production-ready - we say so in the report</a:t>
            </a:r>
          </a:p>
          <a:p>
            <a:pPr>
              <a:spcAft>
                <a:spcPts val="900"/>
              </a:spcAft>
              <a:defRPr sz="1900">
                <a:solidFill>
                  <a:srgbClr val="142A4F"/>
                </a:solidFill>
              </a:defRPr>
            </a:pPr>
            <a:r>
              <a:t>• confidence is a number the model writes; it was effectively constant and the gate never fired</a:t>
            </a:r>
          </a:p>
          <a:p>
            <a:pPr>
              <a:spcAft>
                <a:spcPts val="900"/>
              </a:spcAft>
              <a:defRPr sz="1900">
                <a:solidFill>
                  <a:srgbClr val="142A4F"/>
                </a:solidFill>
              </a:defRPr>
            </a:pPr>
            <a:r>
              <a:t>• output is validated after generation, not constrained during it</a:t>
            </a:r>
          </a:p>
          <a:p>
            <a:pPr>
              <a:spcAft>
                <a:spcPts val="900"/>
              </a:spcAft>
              <a:defRPr sz="1900">
                <a:solidFill>
                  <a:srgbClr val="142A4F"/>
                </a:solidFill>
              </a:defRPr>
            </a:pPr>
            <a:r>
              <a:t>• the safety screen is rule-based and will miss reworded requests; tools are simulated; conversations are single-turn</a:t>
            </a:r>
          </a:p>
          <a:p>
            <a:pPr>
              <a:spcAft>
                <a:spcPts val="900"/>
              </a:spcAft>
              <a:defRPr sz="1900">
                <a:solidFill>
                  <a:srgbClr val="142A4F"/>
                </a:solidFill>
              </a:defRPr>
            </a:pPr>
            <a:r>
              <a:t>• E1 and the live trace ran on a Tesla T4; E2, E3 and E6 on an NVIDIA A100-SXM4-80GB - stated in Appendix 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Where we would take it next</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Bhavani   ·   8:50 - 9:30</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Constrained decoding: mask the logits so only valid JSON and real labels can be produced</a:t>
            </a:r>
          </a:p>
          <a:p>
            <a:pPr>
              <a:spcAft>
                <a:spcPts val="900"/>
              </a:spcAft>
              <a:defRPr sz="1900">
                <a:solidFill>
                  <a:srgbClr val="142A4F"/>
                </a:solidFill>
              </a:defRPr>
            </a:pPr>
            <a:r>
              <a:t>• LoRA on the 10,003 training messages, compared head to head with the best prompt</a:t>
            </a:r>
          </a:p>
          <a:p>
            <a:pPr>
              <a:spcAft>
                <a:spcPts val="900"/>
              </a:spcAft>
              <a:defRPr sz="1900">
                <a:solidFill>
                  <a:srgbClr val="142A4F"/>
                </a:solidFill>
              </a:defRPr>
            </a:pPr>
            <a:r>
              <a:t>• Calibrated confidence from token probabilities instead of the model's own number</a:t>
            </a:r>
          </a:p>
          <a:p>
            <a:pPr>
              <a:spcAft>
                <a:spcPts val="900"/>
              </a:spcAft>
              <a:defRPr sz="1900">
                <a:solidFill>
                  <a:srgbClr val="142A4F"/>
                </a:solidFill>
              </a:defRPr>
            </a:pPr>
            <a:r>
              <a:t>• Put the label catalogue in the repair prompt - the 1-of-62 result says this is the cheap win</a:t>
            </a:r>
          </a:p>
          <a:p>
            <a:pPr>
              <a:spcAft>
                <a:spcPts val="900"/>
              </a:spcAft>
              <a:defRPr sz="1900" b="1">
                <a:solidFill>
                  <a:srgbClr val="B12A2A"/>
                </a:solidFill>
              </a:defRPr>
            </a:pPr>
            <a:r>
              <a:t>• 398 automated tests · every result file and both notebooks public in the repository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09728"/>
          </a:xfrm>
          <a:prstGeom prst="rect">
            <a:avLst/>
          </a:prstGeom>
          <a:noFill/>
        </p:spPr>
        <p:txBody>
          <a:bodyPr wrap="none">
            <a:spAutoFit/>
          </a:bodyPr>
          <a:lstStyle/>
          <a:p/>
        </p:txBody>
      </p:sp>
      <p:sp>
        <p:nvSpPr>
          <p:cNvPr id="3" name="TextBox 2"/>
          <p:cNvSpPr txBox="1"/>
          <p:nvPr/>
        </p:nvSpPr>
        <p:spPr>
          <a:xfrm>
            <a:off x="502920" y="347472"/>
            <a:ext cx="11155680" cy="822960"/>
          </a:xfrm>
          <a:prstGeom prst="rect">
            <a:avLst/>
          </a:prstGeom>
          <a:noFill/>
        </p:spPr>
        <p:txBody>
          <a:bodyPr wrap="none">
            <a:spAutoFit/>
          </a:bodyPr>
          <a:lstStyle/>
          <a:p>
            <a:pPr>
              <a:defRPr sz="3000" b="1">
                <a:solidFill>
                  <a:srgbClr val="142A4F"/>
                </a:solidFill>
              </a:defRPr>
            </a:pPr>
            <a:r>
              <a:t>Speaking plan (rehearsal aid - not presented)</a:t>
            </a:r>
          </a:p>
        </p:txBody>
      </p:sp>
      <p:sp>
        <p:nvSpPr>
          <p:cNvPr id="4" name="TextBox 3"/>
          <p:cNvSpPr txBox="1"/>
          <p:nvPr/>
        </p:nvSpPr>
        <p:spPr>
          <a:xfrm>
            <a:off x="548640" y="6172200"/>
            <a:ext cx="10972800" cy="365760"/>
          </a:xfrm>
          <a:prstGeom prst="rect">
            <a:avLst/>
          </a:prstGeom>
          <a:noFill/>
        </p:spPr>
        <p:txBody>
          <a:bodyPr wrap="none">
            <a:spAutoFit/>
          </a:bodyPr>
          <a:lstStyle/>
          <a:p>
            <a:pPr>
              <a:defRPr sz="1200">
                <a:solidFill>
                  <a:srgbClr val="444A52"/>
                </a:solidFill>
              </a:defRPr>
            </a:pPr>
            <a:r>
              <a:t>rehearsal aid   ·   not presented</a:t>
            </a:r>
          </a:p>
        </p:txBody>
      </p:sp>
      <p:sp>
        <p:nvSpPr>
          <p:cNvPr id="5" name="TextBox 4"/>
          <p:cNvSpPr txBox="1"/>
          <p:nvPr/>
        </p:nvSpPr>
        <p:spPr>
          <a:xfrm>
            <a:off x="594360" y="1371600"/>
            <a:ext cx="10972800" cy="4572000"/>
          </a:xfrm>
          <a:prstGeom prst="rect">
            <a:avLst/>
          </a:prstGeom>
          <a:noFill/>
        </p:spPr>
        <p:txBody>
          <a:bodyPr wrap="square">
            <a:spAutoFit/>
          </a:bodyPr>
          <a:lstStyle/>
          <a:p>
            <a:pPr>
              <a:spcAft>
                <a:spcPts val="900"/>
              </a:spcAft>
              <a:defRPr sz="1900">
                <a:solidFill>
                  <a:srgbClr val="142A4F"/>
                </a:solidFill>
              </a:defRPr>
            </a:pPr>
            <a:r>
              <a:t>• Bhavani - slides 1-2: the problem, what we built, why a generative model (0:00-1:30)</a:t>
            </a:r>
          </a:p>
          <a:p>
            <a:pPr>
              <a:spcAft>
                <a:spcPts val="900"/>
              </a:spcAft>
              <a:defRPr sz="1900">
                <a:solidFill>
                  <a:srgbClr val="142A4F"/>
                </a:solidFill>
              </a:defRPr>
            </a:pPr>
            <a:r>
              <a:t>• Vishruth - slides 3-4: the data and frozen evaluation set, tokenizer, model, E1 baseline (1:30-3:00)</a:t>
            </a:r>
          </a:p>
          <a:p>
            <a:pPr>
              <a:spcAft>
                <a:spcPts val="900"/>
              </a:spcAft>
              <a:defRPr sz="1900">
                <a:solidFill>
                  <a:srgbClr val="142A4F"/>
                </a:solidFill>
              </a:defRPr>
            </a:pPr>
            <a:r>
              <a:t>• Kishore - slides 5-6: the pipeline, then the live three-outcome run (3:00-5:00)</a:t>
            </a:r>
          </a:p>
          <a:p>
            <a:pPr>
              <a:spcAft>
                <a:spcPts val="900"/>
              </a:spcAft>
              <a:defRPr sz="1900">
                <a:solidFill>
                  <a:srgbClr val="142A4F"/>
                </a:solidFill>
              </a:defRPr>
            </a:pPr>
            <a:r>
              <a:t>• Satya - slides 7-9: E2 prompt strategies, E3 decoding, E6 evaluation and failures (5:00-7:35)</a:t>
            </a:r>
          </a:p>
          <a:p>
            <a:pPr>
              <a:spcAft>
                <a:spcPts val="900"/>
              </a:spcAft>
              <a:defRPr sz="1900">
                <a:solidFill>
                  <a:srgbClr val="142A4F"/>
                </a:solidFill>
              </a:defRPr>
            </a:pPr>
            <a:r>
              <a:t>• Kishore - slide 10: the safety result and the adaptation decision (7:35-8:15)</a:t>
            </a:r>
          </a:p>
          <a:p>
            <a:pPr>
              <a:spcAft>
                <a:spcPts val="900"/>
              </a:spcAft>
              <a:defRPr sz="1900">
                <a:solidFill>
                  <a:srgbClr val="142A4F"/>
                </a:solidFill>
              </a:defRPr>
            </a:pPr>
            <a:r>
              <a:t>• All four - slide 11: one limitation each (8:15-8:50), then Bhavani closes on slide 12 (8:50-9:30)</a:t>
            </a:r>
          </a:p>
          <a:p>
            <a:pPr>
              <a:spcAft>
                <a:spcPts val="900"/>
              </a:spcAft>
              <a:defRPr sz="1900">
                <a:solidFill>
                  <a:srgbClr val="142A4F"/>
                </a:solidFill>
              </a:defRPr>
            </a:pPr>
            <a:r>
              <a:t>• Full script with what to say and what to show: demo_script.html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